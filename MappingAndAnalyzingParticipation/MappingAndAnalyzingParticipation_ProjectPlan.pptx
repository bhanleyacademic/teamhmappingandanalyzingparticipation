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B55C9E-A2DA-4366-BC74-6A0F3EF2C8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38198A-D4D7-4795-AD4E-6F7C60D32B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1E856E-577F-4980-8989-3E9C59F5B0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84B431-9298-47FC-A800-4616CF073F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2D753B-6F24-4DD4-9803-373FF81C3C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8F3050-0E1E-4DE7-B894-61ADECD0AB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59F5C3-764C-42FD-A526-B351A2D1A1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967ABC-A642-4CB2-8090-B223BC2AB8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48B33B-684B-4E6D-9879-71984F11D0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title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48628E-E914-41A7-BF27-41F371C75B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984BF3-BE1B-4581-8DC0-F70A3C6C1F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88520" cy="41144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4114800"/>
            <a:ext cx="12188520" cy="2742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0" y="4114800"/>
            <a:ext cx="12188520" cy="727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548640" y="640080"/>
            <a:ext cx="109724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Mapping &amp; Analyzing Participation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548640" y="1508760"/>
            <a:ext cx="1097244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in Tutor/Mentor Leadership and Networking Conferences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2286000" y="2468880"/>
            <a:ext cx="7616520" cy="45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548640" y="2606040"/>
            <a:ext cx="109724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Brian Hanley  ·  Matthew Guschwan  ·  Timothy Kelley  ·  Patrick Green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548640" y="3063240"/>
            <a:ext cx="10972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Indiana University  |  Luddy School of Informatics, Computing, and Engineering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1371600" y="4480560"/>
            <a:ext cx="1828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Client: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2743200" y="4480560"/>
            <a:ext cx="8229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Daniel F. Bassill  |  Tutor/Mentor Institute, LLC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1371600" y="4937760"/>
            <a:ext cx="1828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Course: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2743200" y="4937760"/>
            <a:ext cx="8229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E483/E583 Information Visualization  |  Spring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1371600" y="5394960"/>
            <a:ext cx="1828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Submission: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4"/>
          <p:cNvSpPr/>
          <p:nvPr/>
        </p:nvSpPr>
        <p:spPr>
          <a:xfrm>
            <a:off x="2743200" y="5394960"/>
            <a:ext cx="8229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Presentation of Project Plans  —  March 22,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Stakeholders &amp; Their Needs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Who uses this tool, and what do they need from it?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365760" y="1325880"/>
            <a:ext cx="265140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9"/>
          <p:cNvSpPr/>
          <p:nvPr/>
        </p:nvSpPr>
        <p:spPr>
          <a:xfrm>
            <a:off x="365760" y="1325880"/>
            <a:ext cx="2651400" cy="4111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457200" y="1389960"/>
            <a:ext cx="24685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Daniel F. Bassill / T/MC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475560" y="1874520"/>
            <a:ext cx="2468520" cy="37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Track who attends and their role in mentorship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Communicate network history to funders &amp; partners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Color-coded, searchable Kumu.io map with org hyperlinks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2"/>
          <p:cNvSpPr/>
          <p:nvPr/>
        </p:nvSpPr>
        <p:spPr>
          <a:xfrm>
            <a:off x="3246120" y="1325880"/>
            <a:ext cx="265140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3"/>
          <p:cNvSpPr/>
          <p:nvPr/>
        </p:nvSpPr>
        <p:spPr>
          <a:xfrm>
            <a:off x="3246120" y="1325880"/>
            <a:ext cx="2651400" cy="4111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4"/>
          <p:cNvSpPr/>
          <p:nvPr/>
        </p:nvSpPr>
        <p:spPr>
          <a:xfrm>
            <a:off x="3337560" y="1389960"/>
            <a:ext cx="24685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Nonprofits &amp; Organizations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3355920" y="1874520"/>
            <a:ext cx="2468520" cy="37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Understand which sectors engage in the network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Identify peer organizations to contact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Learn from &amp; replicate Bassill's methodology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6"/>
          <p:cNvSpPr/>
          <p:nvPr/>
        </p:nvSpPr>
        <p:spPr>
          <a:xfrm>
            <a:off x="6126480" y="1325880"/>
            <a:ext cx="265140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7"/>
          <p:cNvSpPr/>
          <p:nvPr/>
        </p:nvSpPr>
        <p:spPr>
          <a:xfrm>
            <a:off x="6126480" y="1325880"/>
            <a:ext cx="2651400" cy="4111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8"/>
          <p:cNvSpPr/>
          <p:nvPr/>
        </p:nvSpPr>
        <p:spPr>
          <a:xfrm>
            <a:off x="6217920" y="1389960"/>
            <a:ext cx="24685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Conference Participants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6236280" y="1874520"/>
            <a:ext cx="2468520" cy="37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See their own place in the network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Discover who else attended the same events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Explore connections within their sector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0"/>
          <p:cNvSpPr/>
          <p:nvPr/>
        </p:nvSpPr>
        <p:spPr>
          <a:xfrm>
            <a:off x="9006840" y="1325880"/>
            <a:ext cx="2651400" cy="448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1"/>
          <p:cNvSpPr/>
          <p:nvPr/>
        </p:nvSpPr>
        <p:spPr>
          <a:xfrm>
            <a:off x="9006840" y="1325880"/>
            <a:ext cx="2651400" cy="4111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2"/>
          <p:cNvSpPr/>
          <p:nvPr/>
        </p:nvSpPr>
        <p:spPr>
          <a:xfrm>
            <a:off x="9098280" y="1389960"/>
            <a:ext cx="24685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Researchers &amp; Civic Advocates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3"/>
          <p:cNvSpPr/>
          <p:nvPr/>
        </p:nvSpPr>
        <p:spPr>
          <a:xfrm>
            <a:off x="9116640" y="1874520"/>
            <a:ext cx="2468520" cy="37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Clean, documented, reproducible dataset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Consistent labels for structural SNA analysis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Open-source pipeline for future research teams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Research Questions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8"/>
          <p:cNvSpPr/>
          <p:nvPr/>
        </p:nvSpPr>
        <p:spPr>
          <a:xfrm>
            <a:off x="365760" y="1417320"/>
            <a:ext cx="5668920" cy="219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457200" y="1527120"/>
            <a:ext cx="502560" cy="5025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457200" y="1527120"/>
            <a:ext cx="5025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1051560" y="152712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Network Navigability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475560" y="2103120"/>
            <a:ext cx="5394600" cy="14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How can the network be organized to be useful to someone who does not know any specific participants — what sectoral or structural entry points make it navigable?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6355080" y="1417320"/>
            <a:ext cx="5668920" cy="219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6446520" y="1527120"/>
            <a:ext cx="502560" cy="5025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6446520" y="1527120"/>
            <a:ext cx="5025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7040880" y="152712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Temporal Progression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6464880" y="2103120"/>
            <a:ext cx="5394600" cy="14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Can we show how the network formed and expanded between 1994 and 2015 — revealing which sectors grew, which stayed consistent, and where gaps appeared?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8"/>
          <p:cNvSpPr/>
          <p:nvPr/>
        </p:nvSpPr>
        <p:spPr>
          <a:xfrm>
            <a:off x="365760" y="3840480"/>
            <a:ext cx="5668920" cy="219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457200" y="3950280"/>
            <a:ext cx="502560" cy="5025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457200" y="3950280"/>
            <a:ext cx="5025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1051560" y="395028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Supernodes &amp; Bridge Actors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475560" y="4526280"/>
            <a:ext cx="5394600" cy="14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Are there highly active or influential organizations beyond Bassill himself? How do they function as connectors between sectors and as bridges to under-represented groups?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3"/>
          <p:cNvSpPr/>
          <p:nvPr/>
        </p:nvSpPr>
        <p:spPr>
          <a:xfrm>
            <a:off x="6355080" y="3840480"/>
            <a:ext cx="5668920" cy="219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4"/>
          <p:cNvSpPr/>
          <p:nvPr/>
        </p:nvSpPr>
        <p:spPr>
          <a:xfrm>
            <a:off x="6446520" y="3950280"/>
            <a:ext cx="502560" cy="5025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5"/>
          <p:cNvSpPr/>
          <p:nvPr/>
        </p:nvSpPr>
        <p:spPr>
          <a:xfrm>
            <a:off x="6446520" y="3950280"/>
            <a:ext cx="5025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7040880" y="395028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Geographic &amp; Outreach Gaps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7"/>
          <p:cNvSpPr/>
          <p:nvPr/>
        </p:nvSpPr>
        <p:spPr>
          <a:xfrm>
            <a:off x="6464880" y="4526280"/>
            <a:ext cx="5394600" cy="14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Are there geographic or organizational gaps in participation that could inform targeted outreach to Chicago high-poverty neighborhoods?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Dataset Statistics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Source: TeamK-cleaned CSV (updated Feb 11, 2026) — 42 conferences, May 1994 – Nov 2014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8"/>
          <p:cNvSpPr/>
          <p:nvPr/>
        </p:nvSpPr>
        <p:spPr>
          <a:xfrm>
            <a:off x="457200" y="1371600"/>
            <a:ext cx="2377080" cy="13712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457200" y="1463040"/>
            <a:ext cx="23770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6,410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457200" y="2103120"/>
            <a:ext cx="23770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Attendance Records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1"/>
          <p:cNvSpPr/>
          <p:nvPr/>
        </p:nvSpPr>
        <p:spPr>
          <a:xfrm>
            <a:off x="3154680" y="1371600"/>
            <a:ext cx="2377080" cy="13712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3154680" y="1463040"/>
            <a:ext cx="23770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41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3154680" y="2103120"/>
            <a:ext cx="23770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Conference Events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4"/>
          <p:cNvSpPr/>
          <p:nvPr/>
        </p:nvSpPr>
        <p:spPr>
          <a:xfrm>
            <a:off x="5852160" y="1371600"/>
            <a:ext cx="2377080" cy="13712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5852160" y="1463040"/>
            <a:ext cx="23770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2,163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5852160" y="2103120"/>
            <a:ext cx="23770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Unique Organizations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7"/>
          <p:cNvSpPr/>
          <p:nvPr/>
        </p:nvSpPr>
        <p:spPr>
          <a:xfrm>
            <a:off x="8549640" y="1371600"/>
            <a:ext cx="2377080" cy="13712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8549640" y="1463040"/>
            <a:ext cx="23770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 yrs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8549640" y="2103120"/>
            <a:ext cx="23770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Data Coverage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457200" y="2971800"/>
            <a:ext cx="7314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SNA Category Distribution (after normalization)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21"/>
          <p:cNvSpPr/>
          <p:nvPr/>
        </p:nvSpPr>
        <p:spPr>
          <a:xfrm>
            <a:off x="457200" y="3383280"/>
            <a:ext cx="1645560" cy="2923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2"/>
          <p:cNvSpPr/>
          <p:nvPr/>
        </p:nvSpPr>
        <p:spPr>
          <a:xfrm>
            <a:off x="502920" y="3410640"/>
            <a:ext cx="15541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Category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23"/>
          <p:cNvSpPr/>
          <p:nvPr/>
        </p:nvSpPr>
        <p:spPr>
          <a:xfrm>
            <a:off x="4114800" y="3383280"/>
            <a:ext cx="1371240" cy="2923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4"/>
          <p:cNvSpPr/>
          <p:nvPr/>
        </p:nvSpPr>
        <p:spPr>
          <a:xfrm>
            <a:off x="4160520" y="3410640"/>
            <a:ext cx="15541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Records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5"/>
          <p:cNvSpPr/>
          <p:nvPr/>
        </p:nvSpPr>
        <p:spPr>
          <a:xfrm>
            <a:off x="5669280" y="3383280"/>
            <a:ext cx="1371240" cy="2923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6"/>
          <p:cNvSpPr/>
          <p:nvPr/>
        </p:nvSpPr>
        <p:spPr>
          <a:xfrm>
            <a:off x="5715000" y="3410640"/>
            <a:ext cx="15541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% of Total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7"/>
          <p:cNvSpPr/>
          <p:nvPr/>
        </p:nvSpPr>
        <p:spPr>
          <a:xfrm>
            <a:off x="457200" y="369432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8"/>
          <p:cNvSpPr/>
          <p:nvPr/>
        </p:nvSpPr>
        <p:spPr>
          <a:xfrm>
            <a:off x="502920" y="371232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Program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9"/>
          <p:cNvSpPr/>
          <p:nvPr/>
        </p:nvSpPr>
        <p:spPr>
          <a:xfrm>
            <a:off x="4114800" y="369432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0"/>
          <p:cNvSpPr/>
          <p:nvPr/>
        </p:nvSpPr>
        <p:spPr>
          <a:xfrm>
            <a:off x="4160520" y="371232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3,310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31"/>
          <p:cNvSpPr/>
          <p:nvPr/>
        </p:nvSpPr>
        <p:spPr>
          <a:xfrm>
            <a:off x="5669280" y="369432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2"/>
          <p:cNvSpPr/>
          <p:nvPr/>
        </p:nvSpPr>
        <p:spPr>
          <a:xfrm>
            <a:off x="5715000" y="371232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51.6%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33"/>
          <p:cNvSpPr/>
          <p:nvPr/>
        </p:nvSpPr>
        <p:spPr>
          <a:xfrm>
            <a:off x="457200" y="3940920"/>
            <a:ext cx="164556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4"/>
          <p:cNvSpPr/>
          <p:nvPr/>
        </p:nvSpPr>
        <p:spPr>
          <a:xfrm>
            <a:off x="502920" y="395928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Resource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5"/>
          <p:cNvSpPr/>
          <p:nvPr/>
        </p:nvSpPr>
        <p:spPr>
          <a:xfrm>
            <a:off x="4114800" y="394092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36"/>
          <p:cNvSpPr/>
          <p:nvPr/>
        </p:nvSpPr>
        <p:spPr>
          <a:xfrm>
            <a:off x="4160520" y="395928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612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7"/>
          <p:cNvSpPr/>
          <p:nvPr/>
        </p:nvSpPr>
        <p:spPr>
          <a:xfrm>
            <a:off x="5669280" y="394092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8"/>
          <p:cNvSpPr/>
          <p:nvPr/>
        </p:nvSpPr>
        <p:spPr>
          <a:xfrm>
            <a:off x="5715000" y="395928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9.5%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9"/>
          <p:cNvSpPr/>
          <p:nvPr/>
        </p:nvSpPr>
        <p:spPr>
          <a:xfrm>
            <a:off x="457200" y="418788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40"/>
          <p:cNvSpPr/>
          <p:nvPr/>
        </p:nvSpPr>
        <p:spPr>
          <a:xfrm>
            <a:off x="502920" y="420624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College/Univ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1"/>
          <p:cNvSpPr/>
          <p:nvPr/>
        </p:nvSpPr>
        <p:spPr>
          <a:xfrm>
            <a:off x="4114800" y="418788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42"/>
          <p:cNvSpPr/>
          <p:nvPr/>
        </p:nvSpPr>
        <p:spPr>
          <a:xfrm>
            <a:off x="4160520" y="420624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559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3"/>
          <p:cNvSpPr/>
          <p:nvPr/>
        </p:nvSpPr>
        <p:spPr>
          <a:xfrm>
            <a:off x="5669280" y="418788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44"/>
          <p:cNvSpPr/>
          <p:nvPr/>
        </p:nvSpPr>
        <p:spPr>
          <a:xfrm>
            <a:off x="5715000" y="420624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8.7%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5"/>
          <p:cNvSpPr/>
          <p:nvPr/>
        </p:nvSpPr>
        <p:spPr>
          <a:xfrm>
            <a:off x="457200" y="4434840"/>
            <a:ext cx="164556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46"/>
          <p:cNvSpPr/>
          <p:nvPr/>
        </p:nvSpPr>
        <p:spPr>
          <a:xfrm>
            <a:off x="502920" y="445320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K-12 School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47"/>
          <p:cNvSpPr/>
          <p:nvPr/>
        </p:nvSpPr>
        <p:spPr>
          <a:xfrm>
            <a:off x="4114800" y="443484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8"/>
          <p:cNvSpPr/>
          <p:nvPr/>
        </p:nvSpPr>
        <p:spPr>
          <a:xfrm>
            <a:off x="4160520" y="44532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418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9"/>
          <p:cNvSpPr/>
          <p:nvPr/>
        </p:nvSpPr>
        <p:spPr>
          <a:xfrm>
            <a:off x="5669280" y="443484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50"/>
          <p:cNvSpPr/>
          <p:nvPr/>
        </p:nvSpPr>
        <p:spPr>
          <a:xfrm>
            <a:off x="5715000" y="44532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6.5%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51"/>
          <p:cNvSpPr/>
          <p:nvPr/>
        </p:nvSpPr>
        <p:spPr>
          <a:xfrm>
            <a:off x="457200" y="468180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52"/>
          <p:cNvSpPr/>
          <p:nvPr/>
        </p:nvSpPr>
        <p:spPr>
          <a:xfrm>
            <a:off x="502920" y="470016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Other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3"/>
          <p:cNvSpPr/>
          <p:nvPr/>
        </p:nvSpPr>
        <p:spPr>
          <a:xfrm>
            <a:off x="4114800" y="468180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54"/>
          <p:cNvSpPr/>
          <p:nvPr/>
        </p:nvSpPr>
        <p:spPr>
          <a:xfrm>
            <a:off x="4160520" y="470016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572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55"/>
          <p:cNvSpPr/>
          <p:nvPr/>
        </p:nvSpPr>
        <p:spPr>
          <a:xfrm>
            <a:off x="5669280" y="468180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6"/>
          <p:cNvSpPr/>
          <p:nvPr/>
        </p:nvSpPr>
        <p:spPr>
          <a:xfrm>
            <a:off x="5715000" y="470016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8.9%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7"/>
          <p:cNvSpPr/>
          <p:nvPr/>
        </p:nvSpPr>
        <p:spPr>
          <a:xfrm>
            <a:off x="457200" y="4928760"/>
            <a:ext cx="164556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58"/>
          <p:cNvSpPr/>
          <p:nvPr/>
        </p:nvSpPr>
        <p:spPr>
          <a:xfrm>
            <a:off x="502920" y="494676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T/MC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9"/>
          <p:cNvSpPr/>
          <p:nvPr/>
        </p:nvSpPr>
        <p:spPr>
          <a:xfrm>
            <a:off x="4114800" y="492876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60"/>
          <p:cNvSpPr/>
          <p:nvPr/>
        </p:nvSpPr>
        <p:spPr>
          <a:xfrm>
            <a:off x="4160520" y="494676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239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61"/>
          <p:cNvSpPr/>
          <p:nvPr/>
        </p:nvSpPr>
        <p:spPr>
          <a:xfrm>
            <a:off x="5669280" y="492876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62"/>
          <p:cNvSpPr/>
          <p:nvPr/>
        </p:nvSpPr>
        <p:spPr>
          <a:xfrm>
            <a:off x="5715000" y="494676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3.7%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63"/>
          <p:cNvSpPr/>
          <p:nvPr/>
        </p:nvSpPr>
        <p:spPr>
          <a:xfrm>
            <a:off x="457200" y="517536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64"/>
          <p:cNvSpPr/>
          <p:nvPr/>
        </p:nvSpPr>
        <p:spPr>
          <a:xfrm>
            <a:off x="502920" y="519372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Intermediary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65"/>
          <p:cNvSpPr/>
          <p:nvPr/>
        </p:nvSpPr>
        <p:spPr>
          <a:xfrm>
            <a:off x="4114800" y="517536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66"/>
          <p:cNvSpPr/>
          <p:nvPr/>
        </p:nvSpPr>
        <p:spPr>
          <a:xfrm>
            <a:off x="4160520" y="519372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227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67"/>
          <p:cNvSpPr/>
          <p:nvPr/>
        </p:nvSpPr>
        <p:spPr>
          <a:xfrm>
            <a:off x="5669280" y="517536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8"/>
          <p:cNvSpPr/>
          <p:nvPr/>
        </p:nvSpPr>
        <p:spPr>
          <a:xfrm>
            <a:off x="5715000" y="519372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3.5%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9"/>
          <p:cNvSpPr/>
          <p:nvPr/>
        </p:nvSpPr>
        <p:spPr>
          <a:xfrm>
            <a:off x="457200" y="5422320"/>
            <a:ext cx="164556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70"/>
          <p:cNvSpPr/>
          <p:nvPr/>
        </p:nvSpPr>
        <p:spPr>
          <a:xfrm>
            <a:off x="502920" y="544068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Faith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71"/>
          <p:cNvSpPr/>
          <p:nvPr/>
        </p:nvSpPr>
        <p:spPr>
          <a:xfrm>
            <a:off x="4114800" y="542232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72"/>
          <p:cNvSpPr/>
          <p:nvPr/>
        </p:nvSpPr>
        <p:spPr>
          <a:xfrm>
            <a:off x="4160520" y="544068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148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73"/>
          <p:cNvSpPr/>
          <p:nvPr/>
        </p:nvSpPr>
        <p:spPr>
          <a:xfrm>
            <a:off x="5669280" y="542232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74"/>
          <p:cNvSpPr/>
          <p:nvPr/>
        </p:nvSpPr>
        <p:spPr>
          <a:xfrm>
            <a:off x="5715000" y="544068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2.3%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75"/>
          <p:cNvSpPr/>
          <p:nvPr/>
        </p:nvSpPr>
        <p:spPr>
          <a:xfrm>
            <a:off x="457200" y="566928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76"/>
          <p:cNvSpPr/>
          <p:nvPr/>
        </p:nvSpPr>
        <p:spPr>
          <a:xfrm>
            <a:off x="502920" y="568764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Government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77"/>
          <p:cNvSpPr/>
          <p:nvPr/>
        </p:nvSpPr>
        <p:spPr>
          <a:xfrm>
            <a:off x="4114800" y="566928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78"/>
          <p:cNvSpPr/>
          <p:nvPr/>
        </p:nvSpPr>
        <p:spPr>
          <a:xfrm>
            <a:off x="4160520" y="568764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136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79"/>
          <p:cNvSpPr/>
          <p:nvPr/>
        </p:nvSpPr>
        <p:spPr>
          <a:xfrm>
            <a:off x="5669280" y="566928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80"/>
          <p:cNvSpPr/>
          <p:nvPr/>
        </p:nvSpPr>
        <p:spPr>
          <a:xfrm>
            <a:off x="5715000" y="568764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2.1%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81"/>
          <p:cNvSpPr/>
          <p:nvPr/>
        </p:nvSpPr>
        <p:spPr>
          <a:xfrm>
            <a:off x="457200" y="5916240"/>
            <a:ext cx="164556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82"/>
          <p:cNvSpPr/>
          <p:nvPr/>
        </p:nvSpPr>
        <p:spPr>
          <a:xfrm>
            <a:off x="502920" y="593460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Business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83"/>
          <p:cNvSpPr/>
          <p:nvPr/>
        </p:nvSpPr>
        <p:spPr>
          <a:xfrm>
            <a:off x="4114800" y="591624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84"/>
          <p:cNvSpPr/>
          <p:nvPr/>
        </p:nvSpPr>
        <p:spPr>
          <a:xfrm>
            <a:off x="4160520" y="59346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131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85"/>
          <p:cNvSpPr/>
          <p:nvPr/>
        </p:nvSpPr>
        <p:spPr>
          <a:xfrm>
            <a:off x="5669280" y="5916240"/>
            <a:ext cx="1371240" cy="246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86"/>
          <p:cNvSpPr/>
          <p:nvPr/>
        </p:nvSpPr>
        <p:spPr>
          <a:xfrm>
            <a:off x="5715000" y="59346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2.0%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87"/>
          <p:cNvSpPr/>
          <p:nvPr/>
        </p:nvSpPr>
        <p:spPr>
          <a:xfrm>
            <a:off x="457200" y="6163200"/>
            <a:ext cx="164556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88"/>
          <p:cNvSpPr/>
          <p:nvPr/>
        </p:nvSpPr>
        <p:spPr>
          <a:xfrm>
            <a:off x="502920" y="6181200"/>
            <a:ext cx="1554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Foundation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89"/>
          <p:cNvSpPr/>
          <p:nvPr/>
        </p:nvSpPr>
        <p:spPr>
          <a:xfrm>
            <a:off x="4114800" y="616320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90"/>
          <p:cNvSpPr/>
          <p:nvPr/>
        </p:nvSpPr>
        <p:spPr>
          <a:xfrm>
            <a:off x="4160520" y="61812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58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91"/>
          <p:cNvSpPr/>
          <p:nvPr/>
        </p:nvSpPr>
        <p:spPr>
          <a:xfrm>
            <a:off x="5669280" y="6163200"/>
            <a:ext cx="1371240" cy="246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92"/>
          <p:cNvSpPr/>
          <p:nvPr/>
        </p:nvSpPr>
        <p:spPr>
          <a:xfrm>
            <a:off x="5715000" y="6181200"/>
            <a:ext cx="12798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0.9%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93"/>
          <p:cNvSpPr/>
          <p:nvPr/>
        </p:nvSpPr>
        <p:spPr>
          <a:xfrm>
            <a:off x="7315200" y="2971800"/>
            <a:ext cx="4480200" cy="36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18 fields per record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Geographically concentrated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in Chicago metro area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~70 raw SNA variants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normalized to 11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canonical categories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Significant blank fields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in Title &amp; Org Name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(esp. pre-2000)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Visualization 1: Participation Frequency Chart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Interactive Plotly stacked bar — attendance per event, segmented by organization type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8"/>
          <p:cNvSpPr/>
          <p:nvPr/>
        </p:nvSpPr>
        <p:spPr>
          <a:xfrm>
            <a:off x="365760" y="1371600"/>
            <a:ext cx="7680600" cy="484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9"/>
          <p:cNvSpPr/>
          <p:nvPr/>
        </p:nvSpPr>
        <p:spPr>
          <a:xfrm>
            <a:off x="365760" y="1371600"/>
            <a:ext cx="7680600" cy="4845960"/>
          </a:xfrm>
          <a:prstGeom prst="rect">
            <a:avLst/>
          </a:prstGeom>
          <a:noFill/>
          <a:ln w="12700">
            <a:solidFill>
              <a:srgbClr val="1a3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365760" y="3017520"/>
            <a:ext cx="76806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[INSERT SCREENSHOT]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http://127.0.0.1:8000/chart/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1"/>
          <p:cNvSpPr/>
          <p:nvPr/>
        </p:nvSpPr>
        <p:spPr>
          <a:xfrm>
            <a:off x="8229600" y="1417320"/>
            <a:ext cx="3748680" cy="47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Key Insights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Built with Plotly — fully interactive (hover, zoom, filter)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Stacked bars show contribution of each sector per event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Filterable by year, sector, and state via dashboard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Reveals peak attendance years (mid-2000s)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Program sector dominant across all 20 years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College &amp; Resource sectors grew steadily over time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Gaps visible in early (pre-1998) and late (post-2012) years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457200" y="1567800"/>
            <a:ext cx="7560000" cy="451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Visualization 2: Network Export for Kumu.io / Gephi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Django pipeline generates Nodes + Edges CSVs on-demand in 4 graph modes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365760" y="1371600"/>
            <a:ext cx="6857640" cy="484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9"/>
          <p:cNvSpPr/>
          <p:nvPr/>
        </p:nvSpPr>
        <p:spPr>
          <a:xfrm>
            <a:off x="365760" y="1371600"/>
            <a:ext cx="6857640" cy="4845960"/>
          </a:xfrm>
          <a:prstGeom prst="rect">
            <a:avLst/>
          </a:prstGeom>
          <a:noFill/>
          <a:ln w="12700">
            <a:solidFill>
              <a:srgbClr val="1a3a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1"/>
          <p:cNvSpPr/>
          <p:nvPr/>
        </p:nvSpPr>
        <p:spPr>
          <a:xfrm>
            <a:off x="7406640" y="1417320"/>
            <a:ext cx="4571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Export Modes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2"/>
          <p:cNvSpPr/>
          <p:nvPr/>
        </p:nvSpPr>
        <p:spPr>
          <a:xfrm>
            <a:off x="7406640" y="1874520"/>
            <a:ext cx="4571640" cy="776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13"/>
          <p:cNvSpPr/>
          <p:nvPr/>
        </p:nvSpPr>
        <p:spPr>
          <a:xfrm>
            <a:off x="7406640" y="1874520"/>
            <a:ext cx="72720" cy="7768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4"/>
          <p:cNvSpPr/>
          <p:nvPr/>
        </p:nvSpPr>
        <p:spPr>
          <a:xfrm>
            <a:off x="7571160" y="191124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Org ↔ Event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5"/>
          <p:cNvSpPr/>
          <p:nvPr/>
        </p:nvSpPr>
        <p:spPr>
          <a:xfrm>
            <a:off x="7571160" y="227700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Bipartite: each attendance = one edge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16"/>
          <p:cNvSpPr/>
          <p:nvPr/>
        </p:nvSpPr>
        <p:spPr>
          <a:xfrm>
            <a:off x="7406640" y="2788920"/>
            <a:ext cx="4571640" cy="776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17"/>
          <p:cNvSpPr/>
          <p:nvPr/>
        </p:nvSpPr>
        <p:spPr>
          <a:xfrm>
            <a:off x="7406640" y="2788920"/>
            <a:ext cx="72720" cy="7768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8"/>
          <p:cNvSpPr/>
          <p:nvPr/>
        </p:nvSpPr>
        <p:spPr>
          <a:xfrm>
            <a:off x="7571160" y="282564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Org ↔ Org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9"/>
          <p:cNvSpPr/>
          <p:nvPr/>
        </p:nvSpPr>
        <p:spPr>
          <a:xfrm>
            <a:off x="7571160" y="319140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Co-attendance edges, weighted by shared events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0"/>
          <p:cNvSpPr/>
          <p:nvPr/>
        </p:nvSpPr>
        <p:spPr>
          <a:xfrm>
            <a:off x="7406640" y="3703320"/>
            <a:ext cx="4571640" cy="776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ectangle 21"/>
          <p:cNvSpPr/>
          <p:nvPr/>
        </p:nvSpPr>
        <p:spPr>
          <a:xfrm>
            <a:off x="7406640" y="3703320"/>
            <a:ext cx="72720" cy="7768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2"/>
          <p:cNvSpPr/>
          <p:nvPr/>
        </p:nvSpPr>
        <p:spPr>
          <a:xfrm>
            <a:off x="7571160" y="374004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Event→Sector→Org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3"/>
          <p:cNvSpPr/>
          <p:nvPr/>
        </p:nvSpPr>
        <p:spPr>
          <a:xfrm>
            <a:off x="7571160" y="410580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Three-layer cross-sector network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24"/>
          <p:cNvSpPr/>
          <p:nvPr/>
        </p:nvSpPr>
        <p:spPr>
          <a:xfrm>
            <a:off x="7406640" y="4617720"/>
            <a:ext cx="4571640" cy="776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25"/>
          <p:cNvSpPr/>
          <p:nvPr/>
        </p:nvSpPr>
        <p:spPr>
          <a:xfrm>
            <a:off x="7406640" y="4617720"/>
            <a:ext cx="72720" cy="7768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6"/>
          <p:cNvSpPr/>
          <p:nvPr/>
        </p:nvSpPr>
        <p:spPr>
          <a:xfrm>
            <a:off x="7571160" y="465444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Nodes Only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7"/>
          <p:cNvSpPr/>
          <p:nvPr/>
        </p:nvSpPr>
        <p:spPr>
          <a:xfrm>
            <a:off x="7571160" y="5020200"/>
            <a:ext cx="4297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Organizations with sector, event count, record count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8"/>
          <p:cNvSpPr/>
          <p:nvPr/>
        </p:nvSpPr>
        <p:spPr>
          <a:xfrm>
            <a:off x="7406640" y="5577840"/>
            <a:ext cx="4571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Color-coded by SNA category  ·  Search by participant  ·  Org hyperlinks (planned)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685800" y="1407600"/>
            <a:ext cx="6263640" cy="473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365760" y="91440"/>
            <a:ext cx="1142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Key Insights &amp; Next Steps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365760" y="73152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What we've learned from the initial analysis, and where we go from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4"/>
          <p:cNvSpPr/>
          <p:nvPr/>
        </p:nvSpPr>
        <p:spPr>
          <a:xfrm>
            <a:off x="0" y="1097280"/>
            <a:ext cx="1218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274320" y="6565320"/>
            <a:ext cx="11612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Mapping &amp; Analyzing Participation  |  IU Luddy  |  Spring 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0" y="1152000"/>
            <a:ext cx="12188520" cy="53856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8"/>
          <p:cNvSpPr/>
          <p:nvPr/>
        </p:nvSpPr>
        <p:spPr>
          <a:xfrm>
            <a:off x="365760" y="1371600"/>
            <a:ext cx="548604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9"/>
          <p:cNvSpPr/>
          <p:nvPr/>
        </p:nvSpPr>
        <p:spPr>
          <a:xfrm>
            <a:off x="365760" y="1371600"/>
            <a:ext cx="5486040" cy="36540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502920" y="1417320"/>
            <a:ext cx="53031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Initial Insights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475560" y="1874520"/>
            <a:ext cx="525744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Program-sector orgs = 52% of all participation — the consistent core of the network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2,163 unique organizations attended — broad but Chicago-concentrated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Co-attendance edges reveal candidate 'supernodes' that bridge sectors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Peak attendance: mid-2000s; visible drops post-2012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~70 raw SNA variants successfully normalized to 11 canonical categories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Data quality gaps concentrated in pre-2000 Title &amp; Organization fields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2"/>
          <p:cNvSpPr/>
          <p:nvPr/>
        </p:nvSpPr>
        <p:spPr>
          <a:xfrm>
            <a:off x="6309360" y="1371600"/>
            <a:ext cx="5486040" cy="516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13"/>
          <p:cNvSpPr/>
          <p:nvPr/>
        </p:nvSpPr>
        <p:spPr>
          <a:xfrm>
            <a:off x="6309360" y="1371600"/>
            <a:ext cx="5486040" cy="3654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6446520" y="1417320"/>
            <a:ext cx="53031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Next Steps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6446520" y="1874520"/>
            <a:ext cx="525744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URL enrichment: cross-reference orgs against tutormentorexchange.net directory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Identify &amp; label supernodes in the org↔org co-attendance network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Complete Kumu.io map with color-coding, search, and embedded hyperlinks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Sector-based graph modes (Event→Sector→Org) fully functional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Analytics dashboard: degree distribution, top-entity tables, data quality flags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Meeting with Daniel Bassill to review results and gather feedback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▸ GitHub repository + Docker image published for future teams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Application>LibreOffice/25.2.2.2$Linux_X86_64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2026-03-21T13:41:43Z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