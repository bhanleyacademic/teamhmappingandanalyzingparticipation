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52"/>
  </p:normalViewPr>
  <p:slideViewPr>
    <p:cSldViewPr snapToGrid="0" snapToObjects="1">
      <p:cViewPr varScale="1">
        <p:scale>
          <a:sx n="116" d="100"/>
          <a:sy n="116" d="100"/>
        </p:scale>
        <p:origin x="32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4480560"/>
            <a:ext cx="12188952" cy="22128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502920"/>
            <a:ext cx="11338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Mapping &amp; Analyzing Participation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50876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EEF2F7"/>
                </a:solidFill>
              </a:rPr>
              <a:t>Intermediate Results  —  Spring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2176272"/>
            <a:ext cx="85313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233172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EF2F7"/>
                </a:solidFill>
              </a:rPr>
              <a:t>Client:  Daniel F. Bassill  ·  Tutor/Mentor Connection (T/MC)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76148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EEF2F7"/>
                </a:solidFill>
              </a:rPr>
              <a:t>E583 / E483 Information Visualization  ·  Indiana University  ·  April 6, 2026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0742847-E564-16D6-FDF8-B3250CD22EAF}"/>
              </a:ext>
            </a:extLst>
          </p:cNvPr>
          <p:cNvGrpSpPr/>
          <p:nvPr/>
        </p:nvGrpSpPr>
        <p:grpSpPr>
          <a:xfrm>
            <a:off x="3959352" y="3611880"/>
            <a:ext cx="1371600" cy="768096"/>
            <a:chOff x="1755648" y="4306824"/>
            <a:chExt cx="1371600" cy="768096"/>
          </a:xfrm>
        </p:grpSpPr>
        <p:sp>
          <p:nvSpPr>
            <p:cNvPr id="13" name="TextBox 12"/>
            <p:cNvSpPr txBox="1"/>
            <p:nvPr/>
          </p:nvSpPr>
          <p:spPr>
            <a:xfrm>
              <a:off x="1755648" y="4306824"/>
              <a:ext cx="137160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b="1" i="0" dirty="0">
                  <a:solidFill>
                    <a:srgbClr val="FFFFFF"/>
                  </a:solidFill>
                </a:rPr>
                <a:t>Brian Hanley</a:t>
              </a:r>
              <a:endParaRPr sz="1100" b="1" i="0" dirty="0">
                <a:solidFill>
                  <a:srgbClr val="FFFFFF"/>
                </a:solidFill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755648" y="4599432"/>
              <a:ext cx="1371600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 i="0">
                  <a:solidFill>
                    <a:srgbClr val="EEF2F7"/>
                  </a:solidFill>
                </a:rPr>
                <a:t>Platform Lead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755648" y="4846320"/>
              <a:ext cx="1371600" cy="2286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0" i="1">
                  <a:solidFill>
                    <a:srgbClr val="EEF2F7"/>
                  </a:solidFill>
                </a:rPr>
                <a:t>Indiana University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BAFFA19-168F-69AF-7222-43B38790C993}"/>
              </a:ext>
            </a:extLst>
          </p:cNvPr>
          <p:cNvGrpSpPr/>
          <p:nvPr/>
        </p:nvGrpSpPr>
        <p:grpSpPr>
          <a:xfrm>
            <a:off x="6473825" y="3613863"/>
            <a:ext cx="1371600" cy="768096"/>
            <a:chOff x="4160520" y="4306824"/>
            <a:chExt cx="1371600" cy="768096"/>
          </a:xfrm>
        </p:grpSpPr>
        <p:sp>
          <p:nvSpPr>
            <p:cNvPr id="18" name="TextBox 17"/>
            <p:cNvSpPr txBox="1"/>
            <p:nvPr/>
          </p:nvSpPr>
          <p:spPr>
            <a:xfrm>
              <a:off x="4160520" y="4306824"/>
              <a:ext cx="137160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b="1" i="0" dirty="0">
                  <a:solidFill>
                    <a:srgbClr val="FFFFFF"/>
                  </a:solidFill>
                </a:rPr>
                <a:t>Timothy Kelley</a:t>
              </a:r>
              <a:endParaRPr sz="1100" b="1" i="0" dirty="0">
                <a:solidFill>
                  <a:srgbClr val="FFFFFF"/>
                </a:solidFill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160520" y="4599432"/>
              <a:ext cx="1371600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 i="0">
                  <a:solidFill>
                    <a:srgbClr val="EEF2F7"/>
                  </a:solidFill>
                </a:rPr>
                <a:t>Data Cleaner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160520" y="4846320"/>
              <a:ext cx="1371600" cy="2286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0" i="1">
                  <a:solidFill>
                    <a:srgbClr val="EEF2F7"/>
                  </a:solidFill>
                </a:rPr>
                <a:t>Indiana University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C38EDA9-F4DF-7699-7544-CCC938929FB0}"/>
              </a:ext>
            </a:extLst>
          </p:cNvPr>
          <p:cNvGrpSpPr/>
          <p:nvPr/>
        </p:nvGrpSpPr>
        <p:grpSpPr>
          <a:xfrm>
            <a:off x="8988298" y="3611109"/>
            <a:ext cx="1371600" cy="768096"/>
            <a:chOff x="6556248" y="4306824"/>
            <a:chExt cx="1371600" cy="768096"/>
          </a:xfrm>
        </p:grpSpPr>
        <p:sp>
          <p:nvSpPr>
            <p:cNvPr id="23" name="TextBox 22"/>
            <p:cNvSpPr txBox="1"/>
            <p:nvPr/>
          </p:nvSpPr>
          <p:spPr>
            <a:xfrm>
              <a:off x="6556248" y="4306824"/>
              <a:ext cx="137160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b="1" i="0" dirty="0">
                  <a:solidFill>
                    <a:srgbClr val="FFFFFF"/>
                  </a:solidFill>
                </a:rPr>
                <a:t>Patrick Green</a:t>
              </a:r>
              <a:endParaRPr sz="1100" b="1" i="0" dirty="0">
                <a:solidFill>
                  <a:srgbClr val="FFFFFF"/>
                </a:solidFill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556248" y="4599432"/>
              <a:ext cx="1371600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 i="0" dirty="0">
                  <a:solidFill>
                    <a:srgbClr val="EEF2F7"/>
                  </a:solidFill>
                </a:rPr>
                <a:t>Data Visualization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556248" y="4846320"/>
              <a:ext cx="1371600" cy="2286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0" i="1" dirty="0">
                  <a:solidFill>
                    <a:srgbClr val="EEF2F7"/>
                  </a:solidFill>
                </a:rPr>
                <a:t>Indiana University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C412BC3-D1DB-1DD4-122C-312EA7EDE24A}"/>
              </a:ext>
            </a:extLst>
          </p:cNvPr>
          <p:cNvGrpSpPr/>
          <p:nvPr/>
        </p:nvGrpSpPr>
        <p:grpSpPr>
          <a:xfrm>
            <a:off x="1828673" y="3611109"/>
            <a:ext cx="1371600" cy="768096"/>
            <a:chOff x="1755648" y="4306824"/>
            <a:chExt cx="1371600" cy="768096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46DBF5D-1D0D-6C3D-8A70-C85424853894}"/>
                </a:ext>
              </a:extLst>
            </p:cNvPr>
            <p:cNvSpPr txBox="1"/>
            <p:nvPr/>
          </p:nvSpPr>
          <p:spPr>
            <a:xfrm>
              <a:off x="1755648" y="4306824"/>
              <a:ext cx="137160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b="1" i="0" dirty="0">
                  <a:solidFill>
                    <a:srgbClr val="FFFFFF"/>
                  </a:solidFill>
                </a:rPr>
                <a:t>Matthew </a:t>
              </a:r>
              <a:r>
                <a:rPr lang="en-US" sz="1100" b="1" i="0" dirty="0" err="1">
                  <a:solidFill>
                    <a:srgbClr val="FFFFFF"/>
                  </a:solidFill>
                </a:rPr>
                <a:t>Guschwan</a:t>
              </a:r>
              <a:endParaRPr sz="1100" b="1" i="0" dirty="0">
                <a:solidFill>
                  <a:srgbClr val="FFFFFF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CA2DC54-F399-5E9B-B91E-A50BCFEB16F9}"/>
                </a:ext>
              </a:extLst>
            </p:cNvPr>
            <p:cNvSpPr txBox="1"/>
            <p:nvPr/>
          </p:nvSpPr>
          <p:spPr>
            <a:xfrm>
              <a:off x="1755648" y="4599432"/>
              <a:ext cx="1371600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00" b="0" i="0" dirty="0">
                  <a:solidFill>
                    <a:srgbClr val="EEF2F7"/>
                  </a:solidFill>
                </a:rPr>
                <a:t>Presentations</a:t>
              </a:r>
              <a:endParaRPr sz="1000" b="0" i="0" dirty="0">
                <a:solidFill>
                  <a:srgbClr val="EEF2F7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5B6E14B-B434-8C60-62BF-B295AA9091FC}"/>
                </a:ext>
              </a:extLst>
            </p:cNvPr>
            <p:cNvSpPr txBox="1"/>
            <p:nvPr/>
          </p:nvSpPr>
          <p:spPr>
            <a:xfrm>
              <a:off x="1755648" y="4846320"/>
              <a:ext cx="1371600" cy="2286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0" i="1">
                  <a:solidFill>
                    <a:srgbClr val="EEF2F7"/>
                  </a:solidFill>
                </a:rPr>
                <a:t>Indiana University</a:t>
              </a:r>
            </a:p>
          </p:txBody>
        </p:sp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42548259-4A27-BA66-3CE6-49B18200F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9759" y="4765607"/>
            <a:ext cx="3249305" cy="182684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9601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" y="18288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315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Stakeholder &amp; Needs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EF2F7"/>
                </a:solidFill>
              </a:rPr>
              <a:t>Daniel F. Bassill · Tutor/Mentor Connection (T/MC)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577840" cy="38404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07899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Who is the Stakeholder?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481328"/>
            <a:ext cx="5486400" cy="2072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 dirty="0">
                <a:solidFill>
                  <a:srgbClr val="1A3A5C"/>
                </a:solidFill>
              </a:rPr>
              <a:t>Daniel F. </a:t>
            </a:r>
            <a:r>
              <a:rPr sz="1300" dirty="0" err="1">
                <a:solidFill>
                  <a:srgbClr val="1A3A5C"/>
                </a:solidFill>
              </a:rPr>
              <a:t>Bassill</a:t>
            </a:r>
            <a:r>
              <a:rPr sz="1300" dirty="0">
                <a:solidFill>
                  <a:srgbClr val="1A3A5C"/>
                </a:solidFill>
              </a:rPr>
              <a:t> — founder, Tutor/Mentor Connection</a:t>
            </a:r>
          </a:p>
          <a:p>
            <a:pPr>
              <a:spcBef>
                <a:spcPts val="200"/>
              </a:spcBef>
            </a:pPr>
            <a:r>
              <a:rPr sz="1300" dirty="0">
                <a:solidFill>
                  <a:srgbClr val="1A3A5C"/>
                </a:solidFill>
              </a:rPr>
              <a:t>Hosted 42 Leadership &amp; Networking Conferences, 1994–2015</a:t>
            </a:r>
          </a:p>
          <a:p>
            <a:pPr>
              <a:spcBef>
                <a:spcPts val="200"/>
              </a:spcBef>
            </a:pPr>
            <a:r>
              <a:rPr sz="1300" dirty="0">
                <a:solidFill>
                  <a:srgbClr val="1A3A5C"/>
                </a:solidFill>
              </a:rPr>
              <a:t>Builds coalitions between schools, nonprofits, business, and government to support youth mentoring in Chicago</a:t>
            </a:r>
          </a:p>
          <a:p>
            <a:pPr>
              <a:spcBef>
                <a:spcPts val="200"/>
              </a:spcBef>
            </a:pPr>
            <a:r>
              <a:rPr sz="1300" dirty="0" err="1">
                <a:solidFill>
                  <a:srgbClr val="1A3A5C"/>
                </a:solidFill>
              </a:rPr>
              <a:t>tutormentorexchange.net</a:t>
            </a:r>
            <a:endParaRPr lang="en-US" sz="1300" dirty="0">
              <a:solidFill>
                <a:srgbClr val="1A3A5C"/>
              </a:solidFill>
            </a:endParaRPr>
          </a:p>
          <a:p>
            <a:pPr>
              <a:spcBef>
                <a:spcPts val="200"/>
              </a:spcBef>
            </a:pPr>
            <a:endParaRPr lang="en-US" sz="1300" dirty="0">
              <a:solidFill>
                <a:srgbClr val="1A3A5C"/>
              </a:solidFill>
            </a:endParaRPr>
          </a:p>
          <a:p>
            <a:pPr>
              <a:spcBef>
                <a:spcPts val="200"/>
              </a:spcBef>
            </a:pPr>
            <a:r>
              <a:rPr lang="en-US" sz="1300" dirty="0">
                <a:solidFill>
                  <a:srgbClr val="1A3A5C"/>
                </a:solidFill>
              </a:rPr>
              <a:t>Future Stakeholders:</a:t>
            </a:r>
          </a:p>
          <a:p>
            <a:pPr>
              <a:spcBef>
                <a:spcPts val="200"/>
              </a:spcBef>
            </a:pPr>
            <a:r>
              <a:rPr lang="en-US" sz="1300" dirty="0">
                <a:solidFill>
                  <a:srgbClr val="1A3A5C"/>
                </a:solidFill>
              </a:rPr>
              <a:t>Conference Planners</a:t>
            </a:r>
          </a:p>
          <a:p>
            <a:pPr>
              <a:spcBef>
                <a:spcPts val="200"/>
              </a:spcBef>
            </a:pPr>
            <a:r>
              <a:rPr lang="en-US" sz="1300" dirty="0">
                <a:solidFill>
                  <a:srgbClr val="1A3A5C"/>
                </a:solidFill>
              </a:rPr>
              <a:t>Conference Consultants</a:t>
            </a:r>
            <a:endParaRPr sz="1300" dirty="0">
              <a:solidFill>
                <a:srgbClr val="1A3A5C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74320" y="3794760"/>
            <a:ext cx="5577840" cy="38404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3822191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What problem are we solving?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4224528"/>
            <a:ext cx="5486400" cy="1143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 dirty="0">
                <a:solidFill>
                  <a:srgbClr val="1A3A5C"/>
                </a:solidFill>
              </a:rPr>
              <a:t>20+ years of conference attendance data exists but has never been fully analyzed</a:t>
            </a:r>
            <a:r>
              <a:rPr lang="en-US" sz="1300" dirty="0">
                <a:solidFill>
                  <a:srgbClr val="1A3A5C"/>
                </a:solidFill>
              </a:rPr>
              <a:t> in terms of reproducibility</a:t>
            </a:r>
            <a:endParaRPr sz="1300" dirty="0">
              <a:solidFill>
                <a:srgbClr val="1A3A5C"/>
              </a:solidFill>
            </a:endParaRPr>
          </a:p>
          <a:p>
            <a:pPr>
              <a:spcBef>
                <a:spcPts val="200"/>
              </a:spcBef>
            </a:pPr>
            <a:r>
              <a:rPr sz="1300" dirty="0">
                <a:solidFill>
                  <a:srgbClr val="1A3A5C"/>
                </a:solidFill>
              </a:rPr>
              <a:t>No system exists to visualize who participated, how often, or across which sectors</a:t>
            </a:r>
          </a:p>
          <a:p>
            <a:pPr>
              <a:spcBef>
                <a:spcPts val="200"/>
              </a:spcBef>
            </a:pPr>
            <a:r>
              <a:rPr sz="1300" dirty="0">
                <a:solidFill>
                  <a:srgbClr val="1A3A5C"/>
                </a:solidFill>
              </a:rPr>
              <a:t>The data is the evidence base for Dan</a:t>
            </a:r>
            <a:r>
              <a:rPr lang="en-US" sz="1300" dirty="0">
                <a:solidFill>
                  <a:srgbClr val="1A3A5C"/>
                </a:solidFill>
              </a:rPr>
              <a:t>iel</a:t>
            </a:r>
            <a:r>
              <a:rPr sz="1300" dirty="0">
                <a:solidFill>
                  <a:srgbClr val="1A3A5C"/>
                </a:solidFill>
              </a:rPr>
              <a:t>'s network-building work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005840"/>
            <a:ext cx="45720" cy="539496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6480" y="1051560"/>
            <a:ext cx="5742432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107899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What the Client Needs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536192"/>
            <a:ext cx="256032" cy="25603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44768" y="154533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55448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A5C"/>
                </a:solidFill>
              </a:rPr>
              <a:t>Kumu.io network map updated with full 1994–2015 dataset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920240"/>
            <a:ext cx="256032" cy="25603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44768" y="19293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93852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A5C"/>
                </a:solidFill>
              </a:rPr>
              <a:t>Organization search — full conference attendance history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2304288"/>
            <a:ext cx="256032" cy="25603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44768" y="231343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32257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A5C"/>
                </a:solidFill>
              </a:rPr>
              <a:t>Color-coded by sector type with filtering capability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2688336"/>
            <a:ext cx="256032" cy="25603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44768" y="2697479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70662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A5C"/>
                </a:solidFill>
              </a:rPr>
              <a:t>Website addresses for participating organizations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3072384"/>
            <a:ext cx="256032" cy="25603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44768" y="3081527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09067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A5C"/>
                </a:solidFill>
              </a:rPr>
              <a:t>Explanatory section on how to read the Kumu map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3456432"/>
            <a:ext cx="256032" cy="25603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44768" y="3465575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347472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A5C"/>
                </a:solidFill>
              </a:rPr>
              <a:t>Links to Tutor/Mentor program lists for cross-reference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3840480"/>
            <a:ext cx="256032" cy="25603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44768" y="384962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385876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A5C"/>
                </a:solidFill>
              </a:rPr>
              <a:t>Documented, reproducible methodology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0040" y="6345936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A5C"/>
                </a:solidFill>
              </a:rPr>
              <a:t>Core question: Who shows up to build a community — and what patterns emerge across 20 years?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9601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" y="18288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3152"/>
            <a:ext cx="105156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</a:rPr>
              <a:t>Data &amp; Visualization — </a:t>
            </a:r>
            <a:r>
              <a:rPr lang="en-US" sz="2600" b="1" i="0" dirty="0" err="1">
                <a:solidFill>
                  <a:srgbClr val="FFFFFF"/>
                </a:solidFill>
              </a:rPr>
              <a:t>Kumu.io</a:t>
            </a:r>
            <a:r>
              <a:rPr lang="en-US" sz="2600" b="1" i="0" dirty="0">
                <a:solidFill>
                  <a:srgbClr val="FFFFFF"/>
                </a:solidFill>
              </a:rPr>
              <a:t> Colored Network</a:t>
            </a:r>
            <a:endParaRPr sz="2600" b="1" i="0" dirty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640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EF2F7"/>
                </a:solidFill>
              </a:rPr>
              <a:t>6,410 records · 42 conferences · 1994–2015 · 11 SNA sectors · 2,179 organizations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8302752" y="1078992"/>
            <a:ext cx="3657600" cy="7498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0" y="11155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6,410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499616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attendance records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02752" y="1920240"/>
            <a:ext cx="3657600" cy="7498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0" y="195681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340864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conference events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02752" y="2761488"/>
            <a:ext cx="3657600" cy="7498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0" y="279806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21 yrs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18211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1994 – 2015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02752" y="3602736"/>
            <a:ext cx="3657600" cy="74980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0" y="363931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023360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SNA sectors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02752" y="4443984"/>
            <a:ext cx="3657600" cy="7498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0" y="448056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2,179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864608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unique organizations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02752" y="5285232"/>
            <a:ext cx="3657600" cy="7498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80" y="532180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~50%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5705856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Program sector share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236208"/>
            <a:ext cx="12188952" cy="62179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" y="6309360"/>
            <a:ext cx="11521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1" dirty="0">
                <a:solidFill>
                  <a:srgbClr val="FFFFFF"/>
                </a:solidFill>
              </a:rPr>
              <a:t>Exports at /export/ feed </a:t>
            </a:r>
            <a:r>
              <a:rPr lang="en-US" sz="1200" b="1" i="1" dirty="0" err="1">
                <a:solidFill>
                  <a:srgbClr val="FFFFFF"/>
                </a:solidFill>
              </a:rPr>
              <a:t>Kumu.io</a:t>
            </a:r>
            <a:r>
              <a:rPr sz="1200" b="1" i="1" dirty="0">
                <a:solidFill>
                  <a:srgbClr val="FFFFFF"/>
                </a:solidFill>
              </a:rPr>
              <a:t> directly — </a:t>
            </a:r>
            <a:r>
              <a:rPr sz="1200" b="1" i="1" dirty="0" err="1">
                <a:solidFill>
                  <a:srgbClr val="FFFFFF"/>
                </a:solidFill>
              </a:rPr>
              <a:t>nodes.csv</a:t>
            </a:r>
            <a:r>
              <a:rPr sz="1200" b="1" i="1" dirty="0">
                <a:solidFill>
                  <a:srgbClr val="FFFFFF"/>
                </a:solidFill>
              </a:rPr>
              <a:t> and edges CSVs update with each data reload.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7DBBB6F-31DF-F8EF-8148-097CC46472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73" y="1624475"/>
            <a:ext cx="7772400" cy="377364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9601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" y="18288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315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Pivot — Methodology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EF2F7"/>
                </a:solidFill>
              </a:rPr>
              <a:t>Why we changed direction from the previous iteration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051560"/>
            <a:ext cx="5577840" cy="384048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07899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Team K  (Previous Iteration — NetworkMap)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508760"/>
            <a:ext cx="5349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1A3A5C"/>
                </a:solidFill>
              </a:rPr>
              <a:t>Built a visual tool for Dan to explore connections himself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3A5C"/>
                </a:solidFill>
              </a:rPr>
              <a:t>6 typed relationship categories defined in the UI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3A5C"/>
                </a:solidFill>
              </a:rPr>
              <a:t>Flask + React + MongoDB — interactive, user-driven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3A5C"/>
                </a:solidFill>
              </a:rPr>
              <a:t>Sector taxonomy: 6 buckets, manually assigned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3A5C"/>
                </a:solidFill>
              </a:rPr>
              <a:t>Strength: low barrier to entry for a non-technical user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3A5C"/>
                </a:solidFill>
              </a:rPr>
              <a:t>Gap: no documented pipeline, no reproducible export,
      analysis lived inside the interface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16752" y="1005840"/>
            <a:ext cx="45720" cy="539496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051560"/>
            <a:ext cx="5742432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107899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Our Approach — Pipeline + Reproducibility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1508760"/>
            <a:ext cx="5577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dirty="0">
                <a:solidFill>
                  <a:srgbClr val="1A3A5C"/>
                </a:solidFill>
              </a:rPr>
              <a:t>Methodology at the forefront — every step is documented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1A3A5C"/>
                </a:solidFill>
              </a:rPr>
              <a:t>SNA normalization: 73 raw variants → 11 canonical sectors in code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1A3A5C"/>
                </a:solidFill>
              </a:rPr>
              <a:t>Django + SQLite — git clone → make setup → make run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1A3A5C"/>
                </a:solidFill>
              </a:rPr>
              <a:t>Three graph models (bipartite, co-attendance, 3-layer directed)</a:t>
            </a: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1A3A5C"/>
                </a:solidFill>
              </a:rPr>
              <a:t>CSV exports compatible with </a:t>
            </a:r>
            <a:r>
              <a:rPr sz="1200" dirty="0" err="1">
                <a:solidFill>
                  <a:srgbClr val="1A3A5C"/>
                </a:solidFill>
              </a:rPr>
              <a:t>Kumu.io</a:t>
            </a:r>
            <a:r>
              <a:rPr sz="1200" dirty="0">
                <a:solidFill>
                  <a:srgbClr val="1A3A5C"/>
                </a:solidFill>
              </a:rPr>
              <a:t>, Gephi, and </a:t>
            </a:r>
            <a:r>
              <a:rPr sz="1200" dirty="0" err="1">
                <a:solidFill>
                  <a:srgbClr val="1A3A5C"/>
                </a:solidFill>
              </a:rPr>
              <a:t>PowerBI</a:t>
            </a:r>
            <a:endParaRPr sz="1200" dirty="0">
              <a:solidFill>
                <a:srgbClr val="1A3A5C"/>
              </a:solidFill>
            </a:endParaRPr>
          </a:p>
          <a:p>
            <a:pPr>
              <a:spcBef>
                <a:spcPts val="200"/>
              </a:spcBef>
            </a:pPr>
            <a:r>
              <a:rPr sz="1200" dirty="0">
                <a:solidFill>
                  <a:srgbClr val="1A3A5C"/>
                </a:solidFill>
              </a:rPr>
              <a:t>Future classes and solo development can extend the pipeline
      without reverse-engineering what was built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4919472"/>
            <a:ext cx="12188952" cy="4572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4983480"/>
            <a:ext cx="12188952" cy="12344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5047488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Why this matters to Dan Bassill: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5394960"/>
            <a:ext cx="11521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3A5C"/>
                </a:solidFill>
              </a:rPr>
              <a:t>The Tutor/Mentor Connection's value is its network and its documented approach to building community. A reproducible pipeline mirrors that philosophy — it's not just what the data shows, it's that anyone can verify how we got there and extend it. That's the methodology Dan wants at the forefront.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236208"/>
            <a:ext cx="12188952" cy="62179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" y="6309360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1">
                <a:solidFill>
                  <a:srgbClr val="FFFFFF"/>
                </a:solidFill>
              </a:rPr>
              <a:t>Deliberate scope: substantial work intentionally left for Summer 2026 solo development and future E583/E483 classes.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9601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" y="18288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315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Why the Data Pipeline Is the Deliverable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EF2F7"/>
                </a:solidFill>
              </a:rPr>
              <a:t>What makes this process replicable for any conference dataset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078992"/>
            <a:ext cx="11676888" cy="996696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56032" y="1078992"/>
            <a:ext cx="201168" cy="99669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13385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</a:rPr>
              <a:t>Normalization is Step Zero: the hardest step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536192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A5C"/>
                </a:solidFill>
              </a:rPr>
              <a:t>Any real conference dataset will have messy category data. Mapping 73 raw SNA variants to 11 canonical sectors in code means the next team inherits a verified, auditable starting point rather than a manual guessing game. This step is what makes cross-conference comparison possible.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2139696"/>
            <a:ext cx="11676888" cy="99669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6032" y="2139696"/>
            <a:ext cx="201168" cy="99669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1945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</a:rPr>
              <a:t>The graph models work on any org-event attendance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596896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A3A5C"/>
                </a:solidFill>
              </a:rPr>
              <a:t>The bipartite, co-attendance, and three-layer graphs are built from two columns: organization and event. Any organization running attendance-tracked conferences can load their spreadsheet into the same pipeline and get the same structural analysis out the other side.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" y="3200400"/>
            <a:ext cx="11676888" cy="996696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56032" y="3200400"/>
            <a:ext cx="201168" cy="996696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325526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5100"/>
                </a:solidFill>
              </a:rPr>
              <a:t>Exports connect to tools stakeholders already 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657600"/>
            <a:ext cx="111556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1A3A5C"/>
                </a:solidFill>
              </a:rPr>
              <a:t>nodes.csv</a:t>
            </a:r>
            <a:r>
              <a:rPr sz="1100" b="0" i="0" dirty="0">
                <a:solidFill>
                  <a:srgbClr val="1A3A5C"/>
                </a:solidFill>
              </a:rPr>
              <a:t> and edges CSVs are formatted for </a:t>
            </a:r>
            <a:r>
              <a:rPr sz="1100" b="0" i="0" dirty="0" err="1">
                <a:solidFill>
                  <a:srgbClr val="1A3A5C"/>
                </a:solidFill>
              </a:rPr>
              <a:t>Kumu.io</a:t>
            </a:r>
            <a:r>
              <a:rPr sz="1100" b="0" i="0" dirty="0">
                <a:solidFill>
                  <a:srgbClr val="1A3A5C"/>
                </a:solidFill>
              </a:rPr>
              <a:t>, Gephi, and </a:t>
            </a:r>
            <a:r>
              <a:rPr sz="1100" b="0" i="0" dirty="0" err="1">
                <a:solidFill>
                  <a:srgbClr val="1A3A5C"/>
                </a:solidFill>
              </a:rPr>
              <a:t>PowerBI</a:t>
            </a:r>
            <a:r>
              <a:rPr sz="1100" b="0" i="0" dirty="0">
                <a:solidFill>
                  <a:srgbClr val="1A3A5C"/>
                </a:solidFill>
              </a:rPr>
              <a:t> directly. The analysis does not live inside the platform</a:t>
            </a:r>
            <a:r>
              <a:rPr lang="en-US" sz="1100" dirty="0">
                <a:solidFill>
                  <a:srgbClr val="1A3A5C"/>
                </a:solidFill>
              </a:rPr>
              <a:t>,</a:t>
            </a:r>
            <a:r>
              <a:rPr sz="1100" b="0" i="0" dirty="0">
                <a:solidFill>
                  <a:srgbClr val="1A3A5C"/>
                </a:solidFill>
              </a:rPr>
              <a:t> </a:t>
            </a:r>
            <a:r>
              <a:rPr lang="en-US" sz="1100" b="0" i="0" dirty="0">
                <a:solidFill>
                  <a:srgbClr val="1A3A5C"/>
                </a:solidFill>
              </a:rPr>
              <a:t>but</a:t>
            </a:r>
            <a:r>
              <a:rPr sz="1100" b="0" i="0" dirty="0">
                <a:solidFill>
                  <a:srgbClr val="1A3A5C"/>
                </a:solidFill>
              </a:rPr>
              <a:t> in files any stakeholder can open, share, or import into whatever tool they already know.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" y="4261104"/>
            <a:ext cx="11676888" cy="996696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6032" y="4261104"/>
            <a:ext cx="201168" cy="996696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43159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A1B9A"/>
                </a:solidFill>
              </a:rPr>
              <a:t>One-command setup is the handoff mechanism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718304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A5C"/>
                </a:solidFill>
              </a:rPr>
              <a:t>git clone + make setup + make run is how this project passes to the next team. The pipeline is not documented separately from the code; the Makefile and load_data command are the documentation. A new team can be running in minutes, not weeks.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" y="5321808"/>
            <a:ext cx="11676888" cy="996696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56032" y="5321808"/>
            <a:ext cx="201168" cy="996696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53766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46E7A"/>
                </a:solidFill>
              </a:rPr>
              <a:t>Documented data quality is institutional memory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779008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A3A5C"/>
                </a:solidFill>
              </a:rPr>
              <a:t>Knowing 4.2% of records have blank org names, knowing what the 73 raw variants were, means future teams inherit a clear picture of the data's limitations rather than re-discovering them. Every quality decision is in code or in writing.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9601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" y="18288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315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What's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EF2F7"/>
                </a:solidFill>
              </a:rPr>
              <a:t>Remaining work before April 26 final checkpoint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051560"/>
            <a:ext cx="3703320" cy="43891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069848"/>
            <a:ext cx="3566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</a:rPr>
              <a:t>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572768"/>
            <a:ext cx="3520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 dirty="0" err="1">
                <a:solidFill>
                  <a:srgbClr val="1A3A5C"/>
                </a:solidFill>
              </a:rPr>
              <a:t>Kumu.io</a:t>
            </a:r>
            <a:r>
              <a:rPr sz="1300" dirty="0">
                <a:solidFill>
                  <a:srgbClr val="1A3A5C"/>
                </a:solidFill>
              </a:rPr>
              <a:t> step-by-step import guide</a:t>
            </a:r>
          </a:p>
          <a:p>
            <a:pPr>
              <a:spcBef>
                <a:spcPts val="200"/>
              </a:spcBef>
            </a:pPr>
            <a:r>
              <a:rPr sz="1300" dirty="0">
                <a:solidFill>
                  <a:srgbClr val="1A3A5C"/>
                </a:solidFill>
              </a:rPr>
              <a:t>Surface org website URLs in search results</a:t>
            </a:r>
          </a:p>
          <a:p>
            <a:pPr>
              <a:spcBef>
                <a:spcPts val="200"/>
              </a:spcBef>
            </a:pPr>
            <a:r>
              <a:rPr sz="1300" dirty="0">
                <a:solidFill>
                  <a:srgbClr val="1A3A5C"/>
                </a:solidFill>
              </a:rPr>
              <a:t>Final reproducibility audit</a:t>
            </a:r>
          </a:p>
          <a:p>
            <a:pPr>
              <a:spcBef>
                <a:spcPts val="200"/>
              </a:spcBef>
            </a:pPr>
            <a:r>
              <a:rPr sz="1300" dirty="0">
                <a:solidFill>
                  <a:srgbClr val="1A3A5C"/>
                </a:solidFill>
              </a:rPr>
              <a:t>Incorporate peer + instructor feedback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87952" y="1051560"/>
            <a:ext cx="3703320" cy="43891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79392" y="1069848"/>
            <a:ext cx="3566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</a:rPr>
              <a:t>Data Cleaning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9392" y="1572768"/>
            <a:ext cx="3520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1A3A5C"/>
                </a:solidFill>
              </a:rPr>
              <a:t>Trim whitespace — 323 org entries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3A5C"/>
                </a:solidFill>
              </a:rPr>
              <a:t>Flag/fill 272 blank org records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3A5C"/>
                </a:solidFill>
              </a:rPr>
              <a:t>Website URLs for top 20–30 orgs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3A5C"/>
                </a:solidFill>
              </a:rPr>
              <a:t>Reload pipeline with updated XLSX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19872" y="1051560"/>
            <a:ext cx="3703320" cy="43891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11312" y="1069848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Writing &amp; Presentation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1572768"/>
            <a:ext cx="3520440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 dirty="0">
                <a:solidFill>
                  <a:srgbClr val="1A3A5C"/>
                </a:solidFill>
              </a:rPr>
              <a:t>Refine </a:t>
            </a:r>
            <a:r>
              <a:rPr lang="en-US" sz="1300" dirty="0">
                <a:solidFill>
                  <a:srgbClr val="1A3A5C"/>
                </a:solidFill>
              </a:rPr>
              <a:t>Kumu</a:t>
            </a:r>
            <a:r>
              <a:rPr sz="1300" dirty="0">
                <a:solidFill>
                  <a:srgbClr val="1A3A5C"/>
                </a:solidFill>
              </a:rPr>
              <a:t> charts after today's feedback</a:t>
            </a:r>
          </a:p>
          <a:p>
            <a:pPr>
              <a:spcBef>
                <a:spcPts val="200"/>
              </a:spcBef>
            </a:pPr>
            <a:r>
              <a:rPr sz="1300" dirty="0">
                <a:solidFill>
                  <a:srgbClr val="1A3A5C"/>
                </a:solidFill>
              </a:rPr>
              <a:t>2–3 actionable insights for final report</a:t>
            </a:r>
          </a:p>
          <a:p>
            <a:pPr>
              <a:spcBef>
                <a:spcPts val="200"/>
              </a:spcBef>
            </a:pPr>
            <a:r>
              <a:rPr sz="1300" dirty="0">
                <a:solidFill>
                  <a:srgbClr val="1A3A5C"/>
                </a:solidFill>
              </a:rPr>
              <a:t>Final report</a:t>
            </a:r>
          </a:p>
          <a:p>
            <a:pPr>
              <a:spcBef>
                <a:spcPts val="200"/>
              </a:spcBef>
            </a:pPr>
            <a:r>
              <a:rPr sz="1300" dirty="0">
                <a:solidFill>
                  <a:srgbClr val="1A3A5C"/>
                </a:solidFill>
              </a:rPr>
              <a:t>Final presentation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5120640"/>
            <a:ext cx="12188952" cy="4572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56032" y="5230368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5100"/>
                </a:solidFill>
              </a:rPr>
              <a:t>Intentionally deferred to Summer 2026 &amp; future classes: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" y="5577840"/>
            <a:ext cx="1170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46E7A"/>
                </a:solidFill>
              </a:rPr>
              <a:t>Kumu live API  ·  Interactive D3 network  ·  SNA centrality metrics  ·  Admin data upload  ·  Fuzzy org deduplication  ·  Multi-dataset support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0040" y="6263640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1">
                <a:solidFill>
                  <a:srgbClr val="FFFFFF"/>
                </a:solidFill>
              </a:rPr>
              <a:t>Roadmap is live at /roadmap/  —  scope decisions are documented, not hidden.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983</Words>
  <Application>Microsoft Macintosh PowerPoint</Application>
  <PresentationFormat>Custom</PresentationFormat>
  <Paragraphs>118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Brian Hanley</cp:lastModifiedBy>
  <cp:revision>2</cp:revision>
  <dcterms:created xsi:type="dcterms:W3CDTF">2013-01-27T09:14:16Z</dcterms:created>
  <dcterms:modified xsi:type="dcterms:W3CDTF">2026-04-05T19:07:58Z</dcterms:modified>
  <cp:category/>
</cp:coreProperties>
</file>